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Shipments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145</c:v>
                </c:pt>
                <c:pt idx="2">
                  <c:v>132</c:v>
                </c:pt>
                <c:pt idx="3">
                  <c:v>160</c:v>
                </c:pt>
                <c:pt idx="4">
                  <c:v>150</c:v>
                </c:pt>
                <c:pt idx="5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57-41B2-8FC4-54D5333DE1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C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66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71560" y="-2286000"/>
            <a:ext cx="5486400" cy="5486400"/>
          </a:xfrm>
          <a:prstGeom prst="ellipse">
            <a:avLst/>
          </a:prstGeom>
          <a:solidFill>
            <a:srgbClr val="E4E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286000" y="4480560"/>
            <a:ext cx="5029200" cy="5029200"/>
          </a:xfrm>
          <a:prstGeom prst="ellipse">
            <a:avLst/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400032" y="320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Visibility System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Optimization Analytics</a:t>
            </a:r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Logistics Dashboard using Power BI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800600"/>
            <a:ext cx="1005840" cy="41148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9F2E5F-D90C-5692-48E6-0CB481D6C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2617" y="99072"/>
            <a:ext cx="1260000" cy="771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400032" y="320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406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often face several challenges in managing modern, data-heavy supply chains — without a centralized analytics platform, these issues quietly erode efficiency and margin.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098548"/>
            <a:ext cx="3535680" cy="1783080"/>
          </a:xfrm>
          <a:prstGeom prst="roundRect">
            <a:avLst>
              <a:gd name="adj" fmla="val 4615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9" name="Shape 7"/>
          <p:cNvSpPr/>
          <p:nvPr/>
        </p:nvSpPr>
        <p:spPr>
          <a:xfrm>
            <a:off x="658368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0" name="Text 8"/>
          <p:cNvSpPr/>
          <p:nvPr/>
        </p:nvSpPr>
        <p:spPr>
          <a:xfrm>
            <a:off x="6583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2862072"/>
            <a:ext cx="313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Centralized Visibility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3282696"/>
            <a:ext cx="3133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data is scattered across systems, making it hard to see the full picture.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12920" y="2148840"/>
            <a:ext cx="3535680" cy="1783080"/>
          </a:xfrm>
          <a:prstGeom prst="roundRect">
            <a:avLst>
              <a:gd name="adj" fmla="val 4615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4" name="Shape 12"/>
          <p:cNvSpPr/>
          <p:nvPr/>
        </p:nvSpPr>
        <p:spPr>
          <a:xfrm>
            <a:off x="4514088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5" name="Text 13"/>
          <p:cNvSpPr/>
          <p:nvPr/>
        </p:nvSpPr>
        <p:spPr>
          <a:xfrm>
            <a:off x="45140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14088" y="2862072"/>
            <a:ext cx="313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Inefficiencies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14088" y="3282696"/>
            <a:ext cx="3133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Overstocking and stockouts happen without clear turnover signals.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68640" y="2148840"/>
            <a:ext cx="3535680" cy="1783080"/>
          </a:xfrm>
          <a:prstGeom prst="roundRect">
            <a:avLst>
              <a:gd name="adj" fmla="val 4615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9" name="Shape 17"/>
          <p:cNvSpPr/>
          <p:nvPr/>
        </p:nvSpPr>
        <p:spPr>
          <a:xfrm>
            <a:off x="8369808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0" name="Text 18"/>
          <p:cNvSpPr/>
          <p:nvPr/>
        </p:nvSpPr>
        <p:spPr>
          <a:xfrm>
            <a:off x="836980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9808" y="2862072"/>
            <a:ext cx="313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Deliveries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9808" y="3282696"/>
            <a:ext cx="3133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bottlenecks go undetected until customers are already affected.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3535680" cy="1783080"/>
          </a:xfrm>
          <a:prstGeom prst="roundRect">
            <a:avLst>
              <a:gd name="adj" fmla="val 4615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4" name="Shape 22"/>
          <p:cNvSpPr/>
          <p:nvPr/>
        </p:nvSpPr>
        <p:spPr>
          <a:xfrm>
            <a:off x="658368" y="44074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5" name="Text 23"/>
          <p:cNvSpPr/>
          <p:nvPr/>
        </p:nvSpPr>
        <p:spPr>
          <a:xfrm>
            <a:off x="65836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" y="4919472"/>
            <a:ext cx="313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Transportation Costs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8368" y="5340096"/>
            <a:ext cx="3133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and carrier costs vary widely with little comparative insight.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312920" y="4206240"/>
            <a:ext cx="3535680" cy="1783080"/>
          </a:xfrm>
          <a:prstGeom prst="roundRect">
            <a:avLst>
              <a:gd name="adj" fmla="val 4615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9" name="Shape 27"/>
          <p:cNvSpPr/>
          <p:nvPr/>
        </p:nvSpPr>
        <p:spPr>
          <a:xfrm>
            <a:off x="4514088" y="44074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0" name="Text 28"/>
          <p:cNvSpPr/>
          <p:nvPr/>
        </p:nvSpPr>
        <p:spPr>
          <a:xfrm>
            <a:off x="451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14088" y="4919472"/>
            <a:ext cx="313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Supplier Monitoring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14088" y="5340096"/>
            <a:ext cx="3133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and quality issues surface too late in the procurement cycle.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168640" y="4206240"/>
            <a:ext cx="3535680" cy="1783080"/>
          </a:xfrm>
          <a:prstGeom prst="roundRect">
            <a:avLst>
              <a:gd name="adj" fmla="val 4615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4" name="Shape 32"/>
          <p:cNvSpPr/>
          <p:nvPr/>
        </p:nvSpPr>
        <p:spPr>
          <a:xfrm>
            <a:off x="8369808" y="44074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5" name="Text 33"/>
          <p:cNvSpPr/>
          <p:nvPr/>
        </p:nvSpPr>
        <p:spPr>
          <a:xfrm>
            <a:off x="836980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69808" y="4919472"/>
            <a:ext cx="313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Utilization Gaps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369808" y="5340096"/>
            <a:ext cx="3133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sites run near capacity while others are underused.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038DFA4-C7EF-4840-ECB2-A39841691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892" y="150912"/>
            <a:ext cx="1260000" cy="771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400032" y="320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objectives help organizations improve operational efficiency while reducing logistics costs.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83664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9" name="Shape 7"/>
          <p:cNvSpPr/>
          <p:nvPr/>
        </p:nvSpPr>
        <p:spPr>
          <a:xfrm>
            <a:off x="658368" y="222656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0" name="Text 8"/>
          <p:cNvSpPr/>
          <p:nvPr/>
        </p:nvSpPr>
        <p:spPr>
          <a:xfrm>
            <a:off x="658368" y="22265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19659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Supply Chain Dashboard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965960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3" name="Shape 11"/>
          <p:cNvSpPr/>
          <p:nvPr/>
        </p:nvSpPr>
        <p:spPr>
          <a:xfrm>
            <a:off x="6464808" y="222656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4" name="Text 12"/>
          <p:cNvSpPr/>
          <p:nvPr/>
        </p:nvSpPr>
        <p:spPr>
          <a:xfrm>
            <a:off x="6464808" y="22265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22008" y="19659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inventory performance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7" name="Shape 15"/>
          <p:cNvSpPr/>
          <p:nvPr/>
        </p:nvSpPr>
        <p:spPr>
          <a:xfrm>
            <a:off x="658368" y="332384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8" name="Text 16"/>
          <p:cNvSpPr/>
          <p:nvPr/>
        </p:nvSpPr>
        <p:spPr>
          <a:xfrm>
            <a:off x="658368" y="33238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30632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supplier reliability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3063240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1" name="Shape 19"/>
          <p:cNvSpPr/>
          <p:nvPr/>
        </p:nvSpPr>
        <p:spPr>
          <a:xfrm>
            <a:off x="6464808" y="332384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2" name="Text 20"/>
          <p:cNvSpPr/>
          <p:nvPr/>
        </p:nvSpPr>
        <p:spPr>
          <a:xfrm>
            <a:off x="6464808" y="33238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22008" y="30632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transportation costs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5" name="Shape 23"/>
          <p:cNvSpPr/>
          <p:nvPr/>
        </p:nvSpPr>
        <p:spPr>
          <a:xfrm>
            <a:off x="658368" y="442112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6" name="Text 24"/>
          <p:cNvSpPr/>
          <p:nvPr/>
        </p:nvSpPr>
        <p:spPr>
          <a:xfrm>
            <a:off x="658368" y="44211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15568" y="41605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delivery performance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63640" y="4160520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9" name="Shape 27"/>
          <p:cNvSpPr/>
          <p:nvPr/>
        </p:nvSpPr>
        <p:spPr>
          <a:xfrm>
            <a:off x="6464808" y="442112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0" name="Text 28"/>
          <p:cNvSpPr/>
          <p:nvPr/>
        </p:nvSpPr>
        <p:spPr>
          <a:xfrm>
            <a:off x="6464808" y="44211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22008" y="41605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warehouse utilization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5257800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3" name="Shape 31"/>
          <p:cNvSpPr/>
          <p:nvPr/>
        </p:nvSpPr>
        <p:spPr>
          <a:xfrm>
            <a:off x="658368" y="55184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4" name="Text 32"/>
          <p:cNvSpPr/>
          <p:nvPr/>
        </p:nvSpPr>
        <p:spPr>
          <a:xfrm>
            <a:off x="658368" y="5518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15568" y="52578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executive-level Cards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63640" y="5257800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7" name="Shape 35"/>
          <p:cNvSpPr/>
          <p:nvPr/>
        </p:nvSpPr>
        <p:spPr>
          <a:xfrm>
            <a:off x="6464808" y="55184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8" name="Text 36"/>
          <p:cNvSpPr/>
          <p:nvPr/>
        </p:nvSpPr>
        <p:spPr>
          <a:xfrm>
            <a:off x="6464808" y="5518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22008" y="52578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faster decisions with interactive analytics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17B8E1-CB1B-41D5-1ADF-A67BAF787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1752" y="150912"/>
            <a:ext cx="1260000" cy="771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400032" y="320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Data Model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 Global Supply Chain 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INCLUDES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51206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Locations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51206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EEF3FE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12" name="Text 10"/>
          <p:cNvSpPr/>
          <p:nvPr/>
        </p:nvSpPr>
        <p:spPr>
          <a:xfrm>
            <a:off x="658368" y="5202936"/>
            <a:ext cx="4901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STAR SCHEMA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522976"/>
            <a:ext cx="51023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 connect to multiple dimension tables, giving faster DAX calculations, cleaner relationships, and accurate KPI roll-ups across every module.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06640" y="3246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57800" y="17373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21240" y="17373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4846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21240" y="4846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B20E519-ABDB-3DC7-D1F9-D6C336A27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834" y="1176777"/>
            <a:ext cx="6693918" cy="37723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58CD33-C070-C69F-DC9E-0BF76B54B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1752" y="125366"/>
            <a:ext cx="1260000" cy="771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400032" y="320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Architecture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MODULES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347472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 Dashboard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Analytics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Analytics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Analytics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7360920" cy="658368"/>
          </a:xfrm>
          <a:prstGeom prst="roundRect">
            <a:avLst>
              <a:gd name="adj" fmla="val 11111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10" name="Text 8"/>
          <p:cNvSpPr/>
          <p:nvPr/>
        </p:nvSpPr>
        <p:spPr>
          <a:xfrm>
            <a:off x="4617720" y="1417320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23860" y="2075688"/>
            <a:ext cx="0" cy="13258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IN" sz="1400"/>
          </a:p>
        </p:txBody>
      </p:sp>
      <p:sp>
        <p:nvSpPr>
          <p:cNvPr id="12" name="Shape 10"/>
          <p:cNvSpPr/>
          <p:nvPr/>
        </p:nvSpPr>
        <p:spPr>
          <a:xfrm>
            <a:off x="4343400" y="2208276"/>
            <a:ext cx="7360920" cy="658368"/>
          </a:xfrm>
          <a:prstGeom prst="roundRect">
            <a:avLst>
              <a:gd name="adj" fmla="val 11111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13" name="Text 11"/>
          <p:cNvSpPr/>
          <p:nvPr/>
        </p:nvSpPr>
        <p:spPr>
          <a:xfrm>
            <a:off x="4617720" y="2208276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(Cleaning &amp; Transformation)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23860" y="2866644"/>
            <a:ext cx="0" cy="13258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IN" sz="1400"/>
          </a:p>
        </p:txBody>
      </p:sp>
      <p:sp>
        <p:nvSpPr>
          <p:cNvPr id="15" name="Shape 13"/>
          <p:cNvSpPr/>
          <p:nvPr/>
        </p:nvSpPr>
        <p:spPr>
          <a:xfrm>
            <a:off x="4343400" y="2999232"/>
            <a:ext cx="7360920" cy="658368"/>
          </a:xfrm>
          <a:prstGeom prst="roundRect">
            <a:avLst>
              <a:gd name="adj" fmla="val 11111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16" name="Text 14"/>
          <p:cNvSpPr/>
          <p:nvPr/>
        </p:nvSpPr>
        <p:spPr>
          <a:xfrm>
            <a:off x="4617720" y="2999232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Data Model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23860" y="3657600"/>
            <a:ext cx="0" cy="13258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IN" sz="1400"/>
          </a:p>
        </p:txBody>
      </p:sp>
      <p:sp>
        <p:nvSpPr>
          <p:cNvPr id="18" name="Shape 16"/>
          <p:cNvSpPr/>
          <p:nvPr/>
        </p:nvSpPr>
        <p:spPr>
          <a:xfrm>
            <a:off x="4343400" y="3790188"/>
            <a:ext cx="7360920" cy="658368"/>
          </a:xfrm>
          <a:prstGeom prst="roundRect">
            <a:avLst>
              <a:gd name="adj" fmla="val 11111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19" name="Text 17"/>
          <p:cNvSpPr/>
          <p:nvPr/>
        </p:nvSpPr>
        <p:spPr>
          <a:xfrm>
            <a:off x="4617720" y="3790188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KPIs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23860" y="4448556"/>
            <a:ext cx="0" cy="13258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IN" sz="1400"/>
          </a:p>
        </p:txBody>
      </p:sp>
      <p:sp>
        <p:nvSpPr>
          <p:cNvPr id="21" name="Shape 19"/>
          <p:cNvSpPr/>
          <p:nvPr/>
        </p:nvSpPr>
        <p:spPr>
          <a:xfrm>
            <a:off x="4343400" y="4581144"/>
            <a:ext cx="7360920" cy="658368"/>
          </a:xfrm>
          <a:prstGeom prst="roundRect">
            <a:avLst>
              <a:gd name="adj" fmla="val 11111"/>
            </a:avLst>
          </a:prstGeom>
          <a:solidFill>
            <a:srgbClr val="EEF3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22" name="Text 20"/>
          <p:cNvSpPr/>
          <p:nvPr/>
        </p:nvSpPr>
        <p:spPr>
          <a:xfrm>
            <a:off x="4617720" y="4581144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23860" y="5239512"/>
            <a:ext cx="0" cy="13258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IN" sz="1400"/>
          </a:p>
        </p:txBody>
      </p:sp>
      <p:sp>
        <p:nvSpPr>
          <p:cNvPr id="24" name="Shape 22"/>
          <p:cNvSpPr/>
          <p:nvPr/>
        </p:nvSpPr>
        <p:spPr>
          <a:xfrm>
            <a:off x="4343400" y="5372100"/>
            <a:ext cx="7360920" cy="658368"/>
          </a:xfrm>
          <a:prstGeom prst="roundRect">
            <a:avLst>
              <a:gd name="adj" fmla="val 11111"/>
            </a:avLst>
          </a:prstGeom>
          <a:solidFill>
            <a:srgbClr val="FFC107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25" name="Text 23"/>
          <p:cNvSpPr/>
          <p:nvPr/>
        </p:nvSpPr>
        <p:spPr>
          <a:xfrm>
            <a:off x="4617720" y="5372100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Decisions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5E39F9-28C1-CDFA-0E17-7D6057911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1752" y="156996"/>
            <a:ext cx="1260000" cy="771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deck/imgs/boxes_ic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-548640" y="3017520"/>
            <a:ext cx="420624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Analytics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257800" y="822960"/>
            <a:ext cx="502920" cy="502920"/>
          </a:xfrm>
          <a:prstGeom prst="ellipse">
            <a:avLst/>
          </a:prstGeom>
          <a:solidFill>
            <a:srgbClr val="EEF3FE"/>
          </a:solidFill>
          <a:ln/>
        </p:spPr>
        <p:txBody>
          <a:bodyPr/>
          <a:lstStyle/>
          <a:p>
            <a:endParaRPr lang="en-IN" sz="1400"/>
          </a:p>
        </p:txBody>
      </p:sp>
      <p:pic>
        <p:nvPicPr>
          <p:cNvPr id="9" name="Image 1" descr="/home/claude/scdeck/imgs/boxe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94183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1463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Visualizations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755648"/>
            <a:ext cx="5029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Turnover Ratio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Performance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Moving Products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Moving Products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Stock Identification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Distribution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Warehouse-wise Inventory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3986784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EEF3FE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13" name="Text 9"/>
          <p:cNvSpPr/>
          <p:nvPr/>
        </p:nvSpPr>
        <p:spPr>
          <a:xfrm>
            <a:off x="658368" y="4114800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8368" y="4370832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businesses maintain optimal inventory levels, reduce holding costs, and improve stock availability.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5285232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16" name="Text 12"/>
          <p:cNvSpPr/>
          <p:nvPr/>
        </p:nvSpPr>
        <p:spPr>
          <a:xfrm>
            <a:off x="658368" y="5413248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58368" y="5669280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76.7% of stock sits in slow-moving status against 23.2% active — with 1M units of dead stock, early markdowns could free up significant working capital.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943599" y="1463040"/>
            <a:ext cx="6074229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19" name="Shape 15"/>
          <p:cNvSpPr/>
          <p:nvPr/>
        </p:nvSpPr>
        <p:spPr>
          <a:xfrm>
            <a:off x="6172200" y="1627632"/>
            <a:ext cx="91440" cy="91440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0" name="Shape 16"/>
          <p:cNvSpPr/>
          <p:nvPr/>
        </p:nvSpPr>
        <p:spPr>
          <a:xfrm>
            <a:off x="6373368" y="1627632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1" name="Shape 17"/>
          <p:cNvSpPr/>
          <p:nvPr/>
        </p:nvSpPr>
        <p:spPr>
          <a:xfrm>
            <a:off x="6574536" y="162763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2" name="Text 18"/>
          <p:cNvSpPr/>
          <p:nvPr/>
        </p:nvSpPr>
        <p:spPr>
          <a:xfrm>
            <a:off x="6172200" y="1773936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Inventory Analysis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099048" y="2614722"/>
            <a:ext cx="5522976" cy="2927004"/>
          </a:xfrm>
          <a:prstGeom prst="roundRect">
            <a:avLst>
              <a:gd name="adj" fmla="val 1250"/>
            </a:avLst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5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DDD89EA-88D9-2119-C20C-9FD7906CE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19" y="2733869"/>
            <a:ext cx="5678424" cy="28540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164FFC-0CB2-13D2-6E7D-278830E3D6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6343" y="254520"/>
            <a:ext cx="1260000" cy="771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400032" y="320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Visualizations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502920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Deliveries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Deliveries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 Time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Fulfillment Rate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Delivery Performance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Trends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694176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EEF3FE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" y="3822192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4078224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customer satisfaction by identifying delivery delays and optimizing logistics operations.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992624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8368" y="5120640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376672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sits at just 17.1% against a 51.2% late-delivery trend — on-time rates fall sharply for warehouses L8 and L9, pointing to a clear fulfillment bottleneck.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1463040"/>
            <a:ext cx="6075162" cy="448056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72200" y="1627632"/>
            <a:ext cx="91440" cy="91440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373368" y="1627632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574536" y="162763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72200" y="1773936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Delivery Performance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9048" y="2556782"/>
            <a:ext cx="5843016" cy="3180041"/>
          </a:xfrm>
          <a:prstGeom prst="roundRect">
            <a:avLst>
              <a:gd name="adj" fmla="val 1202"/>
            </a:avLst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D668DF1-D97D-0E0E-0874-381FBBBAA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619111"/>
            <a:ext cx="5678424" cy="307760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AF12E86-6033-D8A4-C099-EEB393C16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2064" y="150912"/>
            <a:ext cx="1260000" cy="771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411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Performance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Visualizations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Reliability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Fulfillment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Quality Score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Ranking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Analysis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01568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EEF3FE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10" name="Text 8"/>
          <p:cNvSpPr/>
          <p:nvPr/>
        </p:nvSpPr>
        <p:spPr>
          <a:xfrm>
            <a:off x="658368" y="3529584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3785616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better supplier selection, strengthens procurement strategies, and minimizes supply chain risks.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700016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13" name="Text 11"/>
          <p:cNvSpPr/>
          <p:nvPr/>
        </p:nvSpPr>
        <p:spPr>
          <a:xfrm>
            <a:off x="658368" y="4828032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5084064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118 suppliers, average quality sits at 75.71 but reliability trails at 53.9% — the High Tier group (23%) consistently leads composite scores and is the safest bet for volume.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1463040"/>
            <a:ext cx="6075162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16" name="Shape 14"/>
          <p:cNvSpPr/>
          <p:nvPr/>
        </p:nvSpPr>
        <p:spPr>
          <a:xfrm>
            <a:off x="6172200" y="1627632"/>
            <a:ext cx="91440" cy="91440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7" name="Shape 15"/>
          <p:cNvSpPr/>
          <p:nvPr/>
        </p:nvSpPr>
        <p:spPr>
          <a:xfrm>
            <a:off x="6373368" y="1627632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8" name="Shape 16"/>
          <p:cNvSpPr/>
          <p:nvPr/>
        </p:nvSpPr>
        <p:spPr>
          <a:xfrm>
            <a:off x="6574536" y="162763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9" name="Text 17"/>
          <p:cNvSpPr/>
          <p:nvPr/>
        </p:nvSpPr>
        <p:spPr>
          <a:xfrm>
            <a:off x="6172200" y="1773936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Supplier Scorecard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9048" y="2518406"/>
            <a:ext cx="5825474" cy="3205738"/>
          </a:xfrm>
          <a:prstGeom prst="roundRect">
            <a:avLst>
              <a:gd name="adj" fmla="val 1172"/>
            </a:avLst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2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8B7337A-9085-89CB-0796-2732DD8F2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199" y="2670047"/>
            <a:ext cx="5752323" cy="298815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6C79646-2ACB-49F0-DCAA-7B8FEFEC6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4552" y="150912"/>
            <a:ext cx="1260000" cy="771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deck/imgs/truck_ic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-548640" y="3017520"/>
            <a:ext cx="420624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11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753167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 Analytics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257800" y="822960"/>
            <a:ext cx="502920" cy="502920"/>
          </a:xfrm>
          <a:prstGeom prst="ellipse">
            <a:avLst/>
          </a:prstGeom>
          <a:solidFill>
            <a:srgbClr val="EEF3FE"/>
          </a:solidFill>
          <a:ln/>
        </p:spPr>
        <p:txBody>
          <a:bodyPr/>
          <a:lstStyle/>
          <a:p>
            <a:endParaRPr lang="en-IN" sz="1400"/>
          </a:p>
        </p:txBody>
      </p:sp>
      <p:pic>
        <p:nvPicPr>
          <p:cNvPr id="9" name="Image 1" descr="/home/claude/scdeck/imgs/tru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94183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1463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Visualizations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755648"/>
            <a:ext cx="502920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Cost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Shipment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Performance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Carrier-wise Comparison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Cost Analysis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Expenses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3694176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EEF3FE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13" name="Text 9"/>
          <p:cNvSpPr/>
          <p:nvPr/>
        </p:nvSpPr>
        <p:spPr>
          <a:xfrm>
            <a:off x="658368" y="3822192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8368" y="4078224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organizations reduce transportation costs and improve route efficiency.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4992624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16" name="Text 12"/>
          <p:cNvSpPr/>
          <p:nvPr/>
        </p:nvSpPr>
        <p:spPr>
          <a:xfrm>
            <a:off x="658368" y="5120640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58368" y="5376672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carries the heaviest discount load ($206K total) yet late rates stay near 50% across every shipping mode — faster modes aren't buying better reliability.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989320" y="1463040"/>
            <a:ext cx="6075162" cy="4553712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19" name="Shape 15"/>
          <p:cNvSpPr/>
          <p:nvPr/>
        </p:nvSpPr>
        <p:spPr>
          <a:xfrm>
            <a:off x="6172200" y="1627632"/>
            <a:ext cx="91440" cy="91440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0" name="Shape 16"/>
          <p:cNvSpPr/>
          <p:nvPr/>
        </p:nvSpPr>
        <p:spPr>
          <a:xfrm>
            <a:off x="6373368" y="1627632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1" name="Shape 17"/>
          <p:cNvSpPr/>
          <p:nvPr/>
        </p:nvSpPr>
        <p:spPr>
          <a:xfrm>
            <a:off x="6574536" y="162763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2" name="Text 18"/>
          <p:cNvSpPr/>
          <p:nvPr/>
        </p:nvSpPr>
        <p:spPr>
          <a:xfrm>
            <a:off x="6172200" y="1773936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Transportation Analytics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433830" y="2651855"/>
            <a:ext cx="5522976" cy="3044857"/>
          </a:xfrm>
          <a:prstGeom prst="roundRect">
            <a:avLst>
              <a:gd name="adj" fmla="val 1201"/>
            </a:avLst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5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5E72FE9-F0F2-F04D-17DF-508D9954F2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687216"/>
            <a:ext cx="5687008" cy="292048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4748DED-EC5C-FAF7-AEC0-0AC1AEBA55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4552" y="174631"/>
            <a:ext cx="1260000" cy="771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400032" y="320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 Analytics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5565" y="1435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Visualizations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Utilization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Analysis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Efficiency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Productivity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01568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EEF3FE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" y="3529584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3785616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warehouse operations while improving inventory handling and resource utilization.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700016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8368" y="4828032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5084064"/>
            <a:ext cx="4809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ranges from 15.9% to 84.2% across 10 sites — warehouses L3 and L1 ship the most volume, so rebalancing stock toward under-used sites like L6 and L9 could ease pressure.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1463040"/>
            <a:ext cx="5742432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72200" y="1627632"/>
            <a:ext cx="91440" cy="91440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373368" y="1627632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574536" y="162763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72200" y="1773936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Warehouse Efficiency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9048" y="2554149"/>
            <a:ext cx="5522976" cy="3048149"/>
          </a:xfrm>
          <a:prstGeom prst="roundRect">
            <a:avLst>
              <a:gd name="adj" fmla="val 1200"/>
            </a:avLst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5C12C63-4294-53FD-498F-5E0BA3BA7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640563"/>
            <a:ext cx="5358384" cy="2855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3A456F-096E-849C-F930-076EE7C39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5892" y="146366"/>
            <a:ext cx="1260000" cy="771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400032" y="320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Glimpse of the Dashboard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740664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1673352"/>
            <a:ext cx="91440" cy="91440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41248" y="1673352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42416" y="167335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181965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Cards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130552"/>
            <a:ext cx="1554480" cy="777240"/>
          </a:xfrm>
          <a:prstGeom prst="roundRect">
            <a:avLst>
              <a:gd name="adj" fmla="val 8235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2176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542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68880" y="2130552"/>
            <a:ext cx="1554480" cy="777240"/>
          </a:xfrm>
          <a:prstGeom prst="roundRect">
            <a:avLst>
              <a:gd name="adj" fmla="val 8235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468880" y="2176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2542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2130552"/>
            <a:ext cx="1554480" cy="777240"/>
          </a:xfrm>
          <a:prstGeom prst="roundRect">
            <a:avLst>
              <a:gd name="adj" fmla="val 8235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297680" y="2176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38.6x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0" y="2542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Turns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2130552"/>
            <a:ext cx="1554480" cy="777240"/>
          </a:xfrm>
          <a:prstGeom prst="roundRect">
            <a:avLst>
              <a:gd name="adj" fmla="val 8235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26480" y="2176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2542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Supplier Score</a:t>
            </a:r>
            <a:endParaRPr lang="en-US" sz="1400" dirty="0"/>
          </a:p>
        </p:txBody>
      </p:sp>
      <p:graphicFrame>
        <p:nvGraphicFramePr>
          <p:cNvPr id="24" name="Chart 0"/>
          <p:cNvGraphicFramePr/>
          <p:nvPr>
            <p:extLst>
              <p:ext uri="{D42A27DB-BD31-4B8C-83A1-F6EECF244321}">
                <p14:modId xmlns:p14="http://schemas.microsoft.com/office/powerpoint/2010/main" val="3221301823"/>
              </p:ext>
            </p:extLst>
          </p:nvPr>
        </p:nvGraphicFramePr>
        <p:xfrm>
          <a:off x="640080" y="3063240"/>
          <a:ext cx="704088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640080" y="4937760"/>
            <a:ext cx="7040880" cy="1051560"/>
          </a:xfrm>
          <a:prstGeom prst="roundRect">
            <a:avLst>
              <a:gd name="adj" fmla="val 6087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822960" y="50749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Table — Order # | Region | Status | Delivery Days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22960" y="536752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10231  |  West     |  Delivered   |  3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10245  |  South    |  In Transit  |  5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10256  |  North    |  Delayed     |  7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138160" y="1554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STORYTELLING LAYOUT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138160" y="184708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Executive Cards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Middle: Trend Charts &amp; Comparisons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Bottom: Detailed Tables &amp; Support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138160" y="3246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FEATURES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138160" y="3538728"/>
            <a:ext cx="356616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Filters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Filtering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Down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Through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Tooltips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E48B5ED-34ED-87A9-7F0F-C184105D2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5892" y="132624"/>
            <a:ext cx="1260000" cy="771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400032" y="320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simply displaying numbers, the dashboard converts raw data into meaningful business insights.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577340" y="22128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57734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724912"/>
            <a:ext cx="2386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slow-moving inventory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20116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57700" y="22128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45770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47288" y="2724912"/>
            <a:ext cx="2386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fast-selling products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20116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338060" y="22128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3806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27648" y="2724912"/>
            <a:ext cx="2386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delivery delays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98280" y="20116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218420" y="22128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21842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08008" y="2724912"/>
            <a:ext cx="2386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supplier performance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577340" y="42245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57734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" y="4736592"/>
            <a:ext cx="2386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transportation costs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337560" y="4023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457700" y="42245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45770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47288" y="4736592"/>
            <a:ext cx="2386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warehouse utilization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4023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338060" y="42245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33806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27648" y="4736592"/>
            <a:ext cx="2386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operational bottlenecks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098280" y="402336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10218420" y="42245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021842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208008" y="4736592"/>
            <a:ext cx="2386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proactive business decisions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83C40A2-9493-430D-D031-FBF0129FA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0" y="172224"/>
            <a:ext cx="1260000" cy="771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400032" y="320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EEF3FE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8368" y="1682496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1938528"/>
            <a:ext cx="48097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integrates multiple supply chain operations into a single interactive Power BI dashboard. It enables organizations to monitor KPIs, improve operational efficiency, reduce logistics costs, and make informed business decisions through real-time analytics.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89320" y="155448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89320" y="1874520"/>
            <a:ext cx="5760720" cy="457200"/>
          </a:xfrm>
          <a:prstGeom prst="roundRect">
            <a:avLst>
              <a:gd name="adj" fmla="val 14000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126480" y="196596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2648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18745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Demand Forecasting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2450592"/>
            <a:ext cx="5760720" cy="457200"/>
          </a:xfrm>
          <a:prstGeom prst="roundRect">
            <a:avLst>
              <a:gd name="adj" fmla="val 14000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26480" y="254203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6480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245059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IoT Integration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89320" y="3026664"/>
            <a:ext cx="5760720" cy="457200"/>
          </a:xfrm>
          <a:prstGeom prst="roundRect">
            <a:avLst>
              <a:gd name="adj" fmla="val 14000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126480" y="3118104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26480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3026664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Inventory Management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89320" y="3602736"/>
            <a:ext cx="5760720" cy="457200"/>
          </a:xfrm>
          <a:prstGeom prst="roundRect">
            <a:avLst>
              <a:gd name="adj" fmla="val 14000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126480" y="369417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126480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360273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Supply Chain Alerts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89320" y="4178808"/>
            <a:ext cx="5760720" cy="457200"/>
          </a:xfrm>
          <a:prstGeom prst="roundRect">
            <a:avLst>
              <a:gd name="adj" fmla="val 14000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126480" y="4270248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126480" y="4270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37960" y="417880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 Supplier Risk Prediction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89320" y="4754880"/>
            <a:ext cx="5760720" cy="457200"/>
          </a:xfrm>
          <a:prstGeom prst="roundRect">
            <a:avLst>
              <a:gd name="adj" fmla="val 14000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126480" y="484632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126480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37960" y="47548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Dashboard Deployment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System With Optimization Analytics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2D58533-09FB-9457-D7AB-B1EEA3A65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040" y="172224"/>
            <a:ext cx="1260000" cy="771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98230" y="-2326640"/>
            <a:ext cx="5486400" cy="5486400"/>
          </a:xfrm>
          <a:prstGeom prst="ellipse">
            <a:avLst/>
          </a:prstGeom>
          <a:solidFill>
            <a:srgbClr val="E4E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286000" y="4480560"/>
            <a:ext cx="5029200" cy="5029200"/>
          </a:xfrm>
          <a:prstGeom prst="ellipse">
            <a:avLst/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400032" y="3200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612649"/>
            <a:ext cx="1005840" cy="45719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48056" y="270257"/>
            <a:ext cx="5797296" cy="103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" y="1870456"/>
            <a:ext cx="4617720" cy="621792"/>
          </a:xfrm>
          <a:prstGeom prst="roundRect">
            <a:avLst>
              <a:gd name="adj" fmla="val 11765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12648" y="202590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2648" y="2025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14984" y="187045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Prudhvi Surla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Inventory Analytics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31536" y="1870456"/>
            <a:ext cx="4617720" cy="621792"/>
          </a:xfrm>
          <a:prstGeom prst="roundRect">
            <a:avLst>
              <a:gd name="adj" fmla="val 11765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596128" y="202590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596128" y="2025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98464" y="187045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Utkarsh Singh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Delivery Performance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8056" y="2693416"/>
            <a:ext cx="4617720" cy="621792"/>
          </a:xfrm>
          <a:prstGeom prst="roundRect">
            <a:avLst>
              <a:gd name="adj" fmla="val 11765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2648" y="284886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2648" y="2848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14984" y="269341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Yatendra Kumar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Supplier Performance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31536" y="2693416"/>
            <a:ext cx="4617720" cy="621792"/>
          </a:xfrm>
          <a:prstGeom prst="roundRect">
            <a:avLst>
              <a:gd name="adj" fmla="val 11765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596128" y="284886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596128" y="2848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98464" y="269341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Kanak Gangwar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Transportation Analytics</a:t>
            </a:r>
          </a:p>
        </p:txBody>
      </p:sp>
      <p:sp>
        <p:nvSpPr>
          <p:cNvPr id="25" name="Shape 23"/>
          <p:cNvSpPr/>
          <p:nvPr/>
        </p:nvSpPr>
        <p:spPr>
          <a:xfrm>
            <a:off x="448056" y="3516376"/>
            <a:ext cx="4617720" cy="621792"/>
          </a:xfrm>
          <a:prstGeom prst="roundRect">
            <a:avLst>
              <a:gd name="adj" fmla="val 11765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12648" y="367182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12648" y="3671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14984" y="351637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Trupti Jadhav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Warehouse Analytics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31536" y="3516376"/>
            <a:ext cx="4617720" cy="621792"/>
          </a:xfrm>
          <a:prstGeom prst="roundRect">
            <a:avLst>
              <a:gd name="adj" fmla="val 11765"/>
            </a:avLst>
          </a:prstGeom>
          <a:solidFill>
            <a:srgbClr val="EEF3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596128" y="367182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596128" y="3671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998464" y="351637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Palak Kumari</a:t>
            </a:r>
          </a:p>
          <a:p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Warehouse Analytics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4C47F15-C2DA-7A40-B345-C3C29F80E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1752" y="190500"/>
            <a:ext cx="1260000" cy="771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8E28B9-DDAC-0846-1234-37E830ED8FF4}"/>
              </a:ext>
            </a:extLst>
          </p:cNvPr>
          <p:cNvSpPr txBox="1"/>
          <p:nvPr/>
        </p:nvSpPr>
        <p:spPr>
          <a:xfrm>
            <a:off x="2194560" y="2316480"/>
            <a:ext cx="777054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dirty="0"/>
              <a:t>THANK YOU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1352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1006</Words>
  <Application>Microsoft Office PowerPoint</Application>
  <PresentationFormat>Widescreen</PresentationFormat>
  <Paragraphs>251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Trupti jadhav</cp:lastModifiedBy>
  <cp:revision>8</cp:revision>
  <dcterms:created xsi:type="dcterms:W3CDTF">2026-08-08T13:18:05Z</dcterms:created>
  <dcterms:modified xsi:type="dcterms:W3CDTF">2026-08-16T06:40:41Z</dcterms:modified>
</cp:coreProperties>
</file>